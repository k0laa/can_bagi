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E45"/>
    <a:srgbClr val="0C1A2A"/>
    <a:srgbClr val="050C14"/>
    <a:srgbClr val="E5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183" autoAdjust="0"/>
  </p:normalViewPr>
  <p:slideViewPr>
    <p:cSldViewPr snapToGrid="0">
      <p:cViewPr>
        <p:scale>
          <a:sx n="66" d="100"/>
          <a:sy n="66" d="100"/>
        </p:scale>
        <p:origin x="133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A60BC-D04E-46F8-9EE9-1D39BF448F81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42F84-61E4-4831-8D6A-70D7F0B938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925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(20-30 sn) </a:t>
            </a:r>
          </a:p>
          <a:p>
            <a:br>
              <a:rPr lang="tr-TR" dirty="0"/>
            </a:br>
            <a:r>
              <a:rPr lang="tr-TR" dirty="0"/>
              <a:t>Deprem anlarında en büyük problemlerden biri iletişimin çökmesi. İnsanlar yardım isteyemiyor, gönüllüler organize olamıyor ve kaynaklar doğru yerlere ulaşamıyor. Biz bu problemi internet olmadan çalışan bir sistemle çözmeyi hedefledik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2714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(40-50 sn)</a:t>
            </a:r>
          </a:p>
          <a:p>
            <a:endParaRPr lang="tr-TR" dirty="0"/>
          </a:p>
          <a:p>
            <a:r>
              <a:rPr lang="tr-TR" dirty="0"/>
              <a:t>Bizim sistemimiz internet altyapısı çöktüğünde bile çalışmaya devam ediyor. Kullanıcılar mobil uygulama üzerinden yardım çağrısı oluşturuyor. Bu çağrı ESP32 mesh ağı üzerinden </a:t>
            </a:r>
            <a:r>
              <a:rPr lang="tr-TR" dirty="0" err="1"/>
              <a:t>gateway’e</a:t>
            </a:r>
            <a:r>
              <a:rPr lang="tr-TR" dirty="0"/>
              <a:t> ulaşıyor. Gateway </a:t>
            </a:r>
            <a:r>
              <a:rPr lang="tr-TR" dirty="0" err="1"/>
              <a:t>backend</a:t>
            </a:r>
            <a:r>
              <a:rPr lang="tr-TR" dirty="0"/>
              <a:t> ile haberleşiyor ve yapay zeka sistemi çağrıları analiz ederek önceliklendiriyor.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6327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(1 dk)</a:t>
            </a:r>
          </a:p>
          <a:p>
            <a:endParaRPr lang="tr-TR" dirty="0"/>
          </a:p>
          <a:p>
            <a:r>
              <a:rPr lang="tr-TR" dirty="0"/>
              <a:t>Şu an kullandığımız ESP32 sistemi bir prototip. Ancak profesyonel kullanım için hedefimiz özel PCB tasarımlı, düşük güç tüketimli bir yapı oluşturmak.</a:t>
            </a:r>
            <a:br>
              <a:rPr lang="tr-TR" dirty="0"/>
            </a:br>
            <a:endParaRPr lang="tr-TR" dirty="0"/>
          </a:p>
          <a:p>
            <a:r>
              <a:rPr lang="tr-TR" dirty="0"/>
              <a:t>Bu sistemde </a:t>
            </a:r>
            <a:r>
              <a:rPr lang="tr-TR" dirty="0" err="1"/>
              <a:t>LoRa</a:t>
            </a:r>
            <a:r>
              <a:rPr lang="tr-TR" dirty="0"/>
              <a:t> ve çift haberleşme modülü kullanılabilir. Cihazlar </a:t>
            </a:r>
            <a:r>
              <a:rPr lang="tr-TR" dirty="0" err="1"/>
              <a:t>deep</a:t>
            </a:r>
            <a:r>
              <a:rPr lang="tr-TR" dirty="0"/>
              <a:t> </a:t>
            </a:r>
            <a:r>
              <a:rPr lang="tr-TR" dirty="0" err="1"/>
              <a:t>sleep</a:t>
            </a:r>
            <a:r>
              <a:rPr lang="tr-TR" dirty="0"/>
              <a:t> modunda çalışarak enerji tasarrufu sağlar ve yalnızca deprem algılandığında aktif hale gelir.</a:t>
            </a:r>
            <a:br>
              <a:rPr lang="tr-TR" dirty="0"/>
            </a:br>
            <a:endParaRPr lang="tr-TR" dirty="0"/>
          </a:p>
          <a:p>
            <a:r>
              <a:rPr lang="tr-TR" dirty="0"/>
              <a:t>Ayrıca bu modüller deprem çantalarına entegre edilerek afet bölgesinde hızlı şekilde geçici haberleşme ağı kurulmasını sağlayabilir.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224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(40-45 sn)</a:t>
            </a:r>
          </a:p>
          <a:p>
            <a:endParaRPr lang="tr-TR" dirty="0"/>
          </a:p>
          <a:p>
            <a:r>
              <a:rPr lang="tr-TR" dirty="0"/>
              <a:t>Afet anında insanların hesap oluşturacak zamanı olmayabilir. Bu yüzden SOS çağrıları </a:t>
            </a:r>
            <a:r>
              <a:rPr lang="tr-TR" dirty="0" err="1"/>
              <a:t>profilsiz</a:t>
            </a:r>
            <a:r>
              <a:rPr lang="tr-TR" dirty="0"/>
              <a:t> şekilde gönderilebiliyor. Gönüllü tarafında ise görev yönetimi ve koordinasyon ekranları bulunuyor.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9302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(1 dk)</a:t>
            </a:r>
          </a:p>
          <a:p>
            <a:endParaRPr lang="tr-TR" dirty="0"/>
          </a:p>
          <a:p>
            <a:r>
              <a:rPr lang="tr-TR" dirty="0" err="1"/>
              <a:t>Backend</a:t>
            </a:r>
            <a:r>
              <a:rPr lang="tr-TR" dirty="0"/>
              <a:t> tarafında gelen veriler yapay zeka tarafından analiz ediliyor. Sistem yardım taleplerini önceliklendiriyor.</a:t>
            </a:r>
            <a:br>
              <a:rPr lang="tr-TR" dirty="0"/>
            </a:br>
            <a:endParaRPr lang="tr-TR" dirty="0"/>
          </a:p>
          <a:p>
            <a:r>
              <a:rPr lang="tr-TR" dirty="0"/>
              <a:t>Örneğin kritik sağlık durumu belirten çağrılar daha yüksek öncelik alabiliyor.</a:t>
            </a:r>
            <a:br>
              <a:rPr lang="tr-TR" dirty="0"/>
            </a:br>
            <a:endParaRPr lang="tr-TR" dirty="0"/>
          </a:p>
          <a:p>
            <a:r>
              <a:rPr lang="tr-TR" dirty="0"/>
              <a:t>Bunun yanında erzak ve gönüllü koordinasyonu da AI tarafından optimize ediliyor. Böylece kaynakların yanlış yönlendirilmesi azaltılabiliyor.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1276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Sistem yalnızca yardım çağrısı toplamakla kalmıyor, aynı zamanda merkezi bir koordinasyon paneli sunuyor.</a:t>
            </a:r>
          </a:p>
          <a:p>
            <a:br>
              <a:rPr lang="tr-TR" dirty="0"/>
            </a:br>
            <a:r>
              <a:rPr lang="tr-TR" dirty="0"/>
              <a:t>Yetkililer gelen talepleri gerçek zamanlı olarak harita üzerinde görüntüleyebiliyor.</a:t>
            </a:r>
          </a:p>
          <a:p>
            <a:br>
              <a:rPr lang="tr-TR" dirty="0"/>
            </a:br>
            <a:r>
              <a:rPr lang="tr-TR" dirty="0"/>
              <a:t>Isı haritaları sayesinde yoğun yardım bölgeleri hızlı şekilde analiz edilebiliyor.</a:t>
            </a:r>
          </a:p>
          <a:p>
            <a:br>
              <a:rPr lang="tr-TR" dirty="0"/>
            </a:br>
            <a:r>
              <a:rPr lang="tr-TR" dirty="0"/>
              <a:t>Panel üzerinden gönüllü, erzak ve görev koordinasyonu yapılabiliyor.</a:t>
            </a:r>
          </a:p>
          <a:p>
            <a:r>
              <a:rPr lang="tr-TR" dirty="0"/>
              <a:t>Ayrıca AI destekli </a:t>
            </a:r>
            <a:r>
              <a:rPr lang="tr-TR" dirty="0" err="1"/>
              <a:t>chatbot</a:t>
            </a:r>
            <a:r>
              <a:rPr lang="tr-TR" dirty="0"/>
              <a:t> operatörlere hızlı veri erişimi ve karar desteği sağlıyor.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067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(1.5 dk)</a:t>
            </a:r>
            <a:br>
              <a:rPr lang="tr-TR" dirty="0"/>
            </a:br>
            <a:br>
              <a:rPr lang="tr-TR" dirty="0"/>
            </a:br>
            <a:r>
              <a:rPr lang="tr-TR" dirty="0"/>
              <a:t>Şu anda canlı olarak bir yardım çağrısı oluşturuyoruz.</a:t>
            </a:r>
            <a:br>
              <a:rPr lang="tr-TR" dirty="0"/>
            </a:br>
            <a:endParaRPr lang="tr-TR" dirty="0"/>
          </a:p>
          <a:p>
            <a:r>
              <a:rPr lang="tr-TR" dirty="0"/>
              <a:t>Çağrı mesh ağı üzerinden </a:t>
            </a:r>
            <a:r>
              <a:rPr lang="tr-TR" dirty="0" err="1"/>
              <a:t>gateway’e</a:t>
            </a:r>
            <a:r>
              <a:rPr lang="tr-TR" dirty="0"/>
              <a:t> aktarılıyor.</a:t>
            </a:r>
          </a:p>
          <a:p>
            <a:br>
              <a:rPr lang="tr-TR" dirty="0"/>
            </a:br>
            <a:r>
              <a:rPr lang="tr-TR" dirty="0" err="1"/>
              <a:t>Backend</a:t>
            </a:r>
            <a:r>
              <a:rPr lang="tr-TR" dirty="0"/>
              <a:t> tarafında AI sistemi isteği analiz ediyor.</a:t>
            </a:r>
          </a:p>
          <a:p>
            <a:br>
              <a:rPr lang="tr-TR" dirty="0"/>
            </a:br>
            <a:r>
              <a:rPr lang="tr-TR" dirty="0"/>
              <a:t>Ve gönüllü paneline görev olarak düşüyor.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8565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(40 sn)</a:t>
            </a:r>
            <a:br>
              <a:rPr lang="tr-TR" dirty="0"/>
            </a:br>
            <a:br>
              <a:rPr lang="tr-TR" dirty="0"/>
            </a:br>
            <a:r>
              <a:rPr lang="tr-TR" dirty="0"/>
              <a:t>Biz sadece bir mobil uygulama geliştirmedik.</a:t>
            </a:r>
          </a:p>
          <a:p>
            <a:endParaRPr lang="tr-TR" dirty="0"/>
          </a:p>
          <a:p>
            <a:r>
              <a:rPr lang="tr-TR" dirty="0"/>
              <a:t>Afet anında iletişimi sürdürebilecek ve koordinasyonu iyileştirebilecek ölçeklenebilir bir altyapının prototipini geliştirdik.</a:t>
            </a:r>
          </a:p>
          <a:p>
            <a:endParaRPr lang="tr-TR" dirty="0"/>
          </a:p>
          <a:p>
            <a:r>
              <a:rPr lang="tr-TR" dirty="0"/>
              <a:t>Teşekkür ederiz.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42F84-61E4-4831-8D6A-70D7F0B938A5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603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CF9C46-AA4E-B4C2-BE9E-D082D1DCC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64AB876-6067-1921-6E8E-BD0314A21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BEC15C1-A4DF-A7A1-82C6-B453FFB0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FF1EA8-A82A-C61F-4742-A6287924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DCFF80-8BF9-ACD8-580F-EA825E15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508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73B8C9-AD3D-C16E-C8EC-AAA722AF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303A12-8DB1-4B13-BBF1-994BCA0D6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77F365-321D-C164-7F20-79FEED7E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72ABF9-A21C-356A-DF39-F08BF17A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B690EBF-AE10-BE74-F0B3-AC0017C0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526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43E9AB-A566-C63A-7449-DF5F7B53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626BE16-A881-7CB6-6D0E-46B8358C9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C3B2DF-909B-894D-102F-CF36E6D0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2420B9-2AF2-E90A-0096-64D63E33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F18C2D-8F8F-D2D0-9025-455E419A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  <p:pic>
        <p:nvPicPr>
          <p:cNvPr id="8" name="Resim 7" descr="metin, logo, yazı tipi, grafik içeren bir resim&#10;&#10;Açıklama otomatik olarak oluşturuldu">
            <a:extLst>
              <a:ext uri="{FF2B5EF4-FFF2-40B4-BE49-F238E27FC236}">
                <a16:creationId xmlns:a16="http://schemas.microsoft.com/office/drawing/2014/main" id="{CBBEC96C-A370-6BF3-02C2-3DA53816C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188" y="6220405"/>
            <a:ext cx="1168924" cy="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3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467534-486C-C44B-808B-E79AAEC8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3598B6-C265-F445-D6F4-C52EAC93B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F808589-AA52-D0CB-6014-72AA0B809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C1FE2F6-F7B5-2EA9-7AB0-13BAC2CF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4212050-9574-D5A3-1141-372367A29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194449D-1D7A-27B9-D3BC-FF497CA7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653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98EB3-25F9-C197-F101-FE52C501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4A4C714-3109-782A-AF4B-B9D008729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8127C5C-56AB-93D8-F3FD-2E0D33BEB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0A49F02-AF60-5988-8A90-A37606C6F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B67778C-8340-8010-2F1F-B32550D11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7BEE91D-23CC-5D87-69E6-53CFEF1B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E79FB54-E32C-D66E-60DC-D8DE0D78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AC990AE-B9B8-EA96-4A20-C139CBAE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02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58EE9F-5552-2EAE-F931-2C99AD1D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6D769F4-239D-4647-0D18-F9789F05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9968FD3-390E-3780-2D35-D460806A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858F071-45C0-FF97-7472-C1D785DE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945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25FBC8D-CD8E-C2D5-A38D-4B893F01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2C23176-79DD-CE29-AEE0-A5CE5DCF3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C4EB314-C2CB-7BA9-83F5-42D0C7A6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61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37E364-0165-C0AF-419E-6F10E637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6C54D55-6495-924F-53A1-BA8DD687E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52E6904-A29E-AC86-3E12-0A5B9161F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BC7A901-278B-5C83-6D22-97F5DA3E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33825FA-D20E-13F7-0117-1229216F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7F84129-432D-D2B5-FA72-BF9F3FA2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860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1818D8-437D-E6DB-33C7-1DA2D650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A6F955C-42D3-6087-ED2C-03E86F2CF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22F6AC6-D12C-94D1-5E4F-7027639C5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ED259B5-5A91-27EE-4D5F-275558DD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2A331D1-8A08-353B-AE73-80E47036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79837AD-E0FB-697E-29E2-3560DEB2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906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063E30-58BF-7B22-6158-28DC5757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C136A8E-D59B-15C7-F82C-99F911F9C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85F79E9-C199-F8EF-ADE2-74D62197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F630E75-431F-395E-604D-3B3320BC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88202A7-D4CB-CCAB-4025-D7BB770F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120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C503F9F-8F77-30F5-4844-5DCA7CD3C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361F0B9-8CFE-B2AA-98CC-FA94D52D6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AC2F3C9-C9EF-519C-EFCA-96ACCEA4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2BF1D6-5467-DB11-368A-D4B78718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0FBAB5-5262-EF41-41A0-AA8AD96D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577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49525C8-400F-8492-B371-6233AD82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65B5167-8E5F-93F0-0F6A-258DA8E9E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426FE2-B303-8E7B-B521-A2C7480D3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3B030-FC9D-4BF3-BBD3-4006149C0563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F0912E9-C258-47CE-C5AD-3B42179A9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2747C5C-CB21-1F9B-C5F0-F0A7619D4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16410-8E7C-4073-B744-A48382B5E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173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ursor.com/" TargetMode="External"/><Relationship Id="rId3" Type="http://schemas.openxmlformats.org/officeDocument/2006/relationships/hyperlink" Target="https://claude.ai/" TargetMode="External"/><Relationship Id="rId7" Type="http://schemas.openxmlformats.org/officeDocument/2006/relationships/hyperlink" Target="https://antigravity.google/" TargetMode="External"/><Relationship Id="rId2" Type="http://schemas.openxmlformats.org/officeDocument/2006/relationships/hyperlink" Target="https://www.genspark.ai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roq.com/" TargetMode="External"/><Relationship Id="rId5" Type="http://schemas.openxmlformats.org/officeDocument/2006/relationships/hyperlink" Target="https://gemini.google.com/" TargetMode="External"/><Relationship Id="rId10" Type="http://schemas.openxmlformats.org/officeDocument/2006/relationships/hyperlink" Target="https://windsurf.com/" TargetMode="External"/><Relationship Id="rId4" Type="http://schemas.openxmlformats.org/officeDocument/2006/relationships/hyperlink" Target="https://chatgpt.com/" TargetMode="External"/><Relationship Id="rId9" Type="http://schemas.openxmlformats.org/officeDocument/2006/relationships/hyperlink" Target="https://www.augmentcod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A1AA10-C491-A866-9205-4B90822A5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102" y="891660"/>
            <a:ext cx="7731967" cy="2091710"/>
          </a:xfrm>
        </p:spPr>
        <p:txBody>
          <a:bodyPr anchor="t">
            <a:normAutofit/>
          </a:bodyPr>
          <a:lstStyle/>
          <a:p>
            <a:pPr algn="l"/>
            <a:r>
              <a:rPr lang="tr-TR" sz="4400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Afet Anında İletişim Çökerse Ne Olur?</a:t>
            </a:r>
            <a:endParaRPr lang="tr-TR" sz="44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641AC4E-E6E4-0376-9DF8-8F8FF08DD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102" y="2286422"/>
            <a:ext cx="5713445" cy="2798762"/>
          </a:xfrm>
        </p:spPr>
        <p:txBody>
          <a:bodyPr anchor="b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İnternet ve mobil hatlar kesilebilir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Yardım çağrıları merkeze ulaşmayabilir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Gönüllüler koordine olamayabilir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Kaynaklar yanlış bölgelere yönlenebilir</a:t>
            </a:r>
          </a:p>
          <a:p>
            <a:pPr algn="l"/>
            <a:br>
              <a:rPr lang="tr-TR" sz="2000" dirty="0"/>
            </a:br>
            <a:endParaRPr lang="tr-TR" sz="20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F6F6A89-1B70-3B81-BF71-9D1105790E53}"/>
              </a:ext>
            </a:extLst>
          </p:cNvPr>
          <p:cNvSpPr txBox="1"/>
          <p:nvPr/>
        </p:nvSpPr>
        <p:spPr>
          <a:xfrm>
            <a:off x="793102" y="522328"/>
            <a:ext cx="9610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Afet sonrası İlk problem: kesilen 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iletiŞİm</a:t>
            </a:r>
            <a:endParaRPr lang="tr-TR" sz="16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00EBC49-E671-B356-2797-F9A27B042A2C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Afette en büyük ikinci yıkım,</a:t>
            </a:r>
            <a:br>
              <a:rPr lang="tr-TR" sz="2000" dirty="0"/>
            </a:b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iletişimin çökmesidir.</a:t>
            </a:r>
            <a:endParaRPr lang="tr-TR" sz="20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1E6FD2C-DB59-4AB9-A2D7-FAF7271059DE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E761989-6758-49D6-F38D-94EDF157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672" y="764964"/>
            <a:ext cx="3982006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70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6B9768B3-6EBA-978F-F587-205B7E5D1E46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7287208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İnternet Olmadan Çalışan Afet İletişim Sistemi</a:t>
            </a:r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B9BE82CF-096F-5466-566D-C9FFD0C3A7D3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Mobil uygulama ile yardım çağrısı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Mesh ağ üzerinden veri iletimi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Gateway ile merkeze aktarım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AI destekli önceliklendirme ve koordinasyon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C184A8A-2FAB-EF9C-4191-492AB1E0A849}"/>
              </a:ext>
            </a:extLst>
          </p:cNvPr>
          <p:cNvSpPr txBox="1"/>
          <p:nvPr/>
        </p:nvSpPr>
        <p:spPr>
          <a:xfrm>
            <a:off x="793102" y="522328"/>
            <a:ext cx="9610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Offline-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first</a:t>
            </a:r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 yardım ve 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koordİnasyon</a:t>
            </a:r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 yaklaşımı</a:t>
            </a:r>
          </a:p>
          <a:p>
            <a:br>
              <a:rPr lang="tr-TR" sz="1600" dirty="0"/>
            </a:br>
            <a:endParaRPr lang="tr-TR" sz="16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50EC7A1-4076-5283-E7E0-C792E831F0CA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Bağlantı yoksa bile,</a:t>
            </a:r>
            <a:br>
              <a:rPr lang="tr-TR" sz="2000" dirty="0"/>
            </a:b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yardım çağrısı iletilmeye devam eder.</a:t>
            </a:r>
            <a:endParaRPr lang="tr-TR" sz="2000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C02C126-4FE9-9335-91F3-EDC3F2A8F52B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83297602-58A4-9ED6-DF33-F4341B50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443" y="799733"/>
            <a:ext cx="4001058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3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şlık 1">
            <a:extLst>
              <a:ext uri="{FF2B5EF4-FFF2-40B4-BE49-F238E27FC236}">
                <a16:creationId xmlns:a16="http://schemas.microsoft.com/office/drawing/2014/main" id="{AF65E95F-CC13-B34A-3C05-4C91A4312B7A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6839338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Mesh Ağ: Merkezi Altyapı Çökse Bile İletişim Devam</a:t>
            </a:r>
            <a:endParaRPr lang="tr-TR" sz="3600" dirty="0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84BFE475-B950-D4A0-2226-70F7B4E46E51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ESP32 tabanlı prototip mesh yapı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 err="1">
                <a:solidFill>
                  <a:srgbClr val="444444"/>
                </a:solidFill>
                <a:effectLst/>
                <a:latin typeface="Inter"/>
              </a:rPr>
              <a:t>Node'lar</a:t>
            </a: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 arası doğrudan iletişim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Gateway üzerinden </a:t>
            </a:r>
            <a:r>
              <a:rPr lang="tr-TR" sz="2000" b="0" i="0" dirty="0" err="1">
                <a:solidFill>
                  <a:srgbClr val="444444"/>
                </a:solidFill>
                <a:effectLst/>
                <a:latin typeface="Inter"/>
              </a:rPr>
              <a:t>backend</a:t>
            </a: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 bağlantısı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Düşük altyapı bağımlılığı, yüksek dayanıklılık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6EC2F2D-9263-BF5B-9B26-991A6E5BE16E}"/>
              </a:ext>
            </a:extLst>
          </p:cNvPr>
          <p:cNvSpPr txBox="1"/>
          <p:nvPr/>
        </p:nvSpPr>
        <p:spPr>
          <a:xfrm>
            <a:off x="793102" y="522328"/>
            <a:ext cx="9610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Dayanıklı, dağıtık ve geliştirilebilir ağ yapısı</a:t>
            </a:r>
            <a:endParaRPr lang="tr-TR" sz="16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5D09C29-67FD-C860-D9A2-3BB2345A00A5}"/>
              </a:ext>
            </a:extLst>
          </p:cNvPr>
          <p:cNvSpPr txBox="1"/>
          <p:nvPr/>
        </p:nvSpPr>
        <p:spPr>
          <a:xfrm>
            <a:off x="970383" y="5085184"/>
            <a:ext cx="4963886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İnternet yoksa bile</a:t>
            </a:r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 cihazlar kendi aralarında haberleşebilir.</a:t>
            </a:r>
            <a:endParaRPr lang="tr-TR" sz="2000" dirty="0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DF8141C-03A9-AAA7-8FEB-0F6ABE7EC1AB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A4FE1310-8FE8-F357-E392-6DEF4EE5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1" t="21596" r="7265" b="9710"/>
          <a:stretch/>
        </p:blipFill>
        <p:spPr>
          <a:xfrm>
            <a:off x="466528" y="2024812"/>
            <a:ext cx="6410133" cy="632900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4EFCDC4E-D769-4F06-4D36-DD599228B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814" y="1436510"/>
            <a:ext cx="4756256" cy="2091710"/>
          </a:xfrm>
          <a:prstGeom prst="rect">
            <a:avLst/>
          </a:prstGeom>
        </p:spPr>
      </p:pic>
      <p:pic>
        <p:nvPicPr>
          <p:cNvPr id="26" name="Resim 25">
            <a:extLst>
              <a:ext uri="{FF2B5EF4-FFF2-40B4-BE49-F238E27FC236}">
                <a16:creationId xmlns:a16="http://schemas.microsoft.com/office/drawing/2014/main" id="{378CF1FB-98CF-7FA7-7AB8-73EC826BD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999" y="3681184"/>
            <a:ext cx="4963886" cy="215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7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2525F62E-27EC-240E-FA95-AF9C86A5BB37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7287208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r-TR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Kriz Anı İçin Basit ve Hızlı Kullanım</a:t>
            </a:r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1E212024-C0DE-8812-36C4-C7B1E46438A3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 err="1">
                <a:solidFill>
                  <a:srgbClr val="444444"/>
                </a:solidFill>
                <a:effectLst/>
                <a:latin typeface="Inter"/>
              </a:rPr>
              <a:t>Profilsiz</a:t>
            </a: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 SOS gönderimi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Hızlı yardım talebi oluşturma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Gönüllü görev ekranı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Temel kriz iletişimi ve durum takibi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E6420AC-2F23-B2C1-1F34-B4FF3E6BC55F}"/>
              </a:ext>
            </a:extLst>
          </p:cNvPr>
          <p:cNvSpPr txBox="1"/>
          <p:nvPr/>
        </p:nvSpPr>
        <p:spPr>
          <a:xfrm>
            <a:off x="793102" y="522328"/>
            <a:ext cx="9610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STRES ANINDA HIZLI KULLANIM İÇİN SADE ARAYÜZ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D5FFC94-58A9-54E7-A372-4F52C89291C3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Afet anında hız, sadelik ve</a:t>
            </a:r>
            <a:br>
              <a:rPr lang="tr-TR" sz="2000" dirty="0"/>
            </a:b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erişilebilirlik kritik önemdedir.</a:t>
            </a:r>
            <a:endParaRPr lang="tr-TR" sz="2000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A07B9A0-0228-C584-571F-ED95C4C59719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4BD7F3C6-9214-EC9E-3BFF-5DDE6523B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716" y="891660"/>
            <a:ext cx="407726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0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tasarım içeren bir resim&#10;&#10;Açıklama otomatik olarak oluşturuldu">
            <a:extLst>
              <a:ext uri="{FF2B5EF4-FFF2-40B4-BE49-F238E27FC236}">
                <a16:creationId xmlns:a16="http://schemas.microsoft.com/office/drawing/2014/main" id="{42739B9C-5393-6EDE-CB70-E37E2C7E9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31268" cy="6858000"/>
          </a:xfrm>
          <a:prstGeom prst="rect">
            <a:avLst/>
          </a:prstGeom>
        </p:spPr>
      </p:pic>
      <p:pic>
        <p:nvPicPr>
          <p:cNvPr id="7" name="Resim 6" descr="metin, ekran görüntüsü, yazılım, işletim sistemi içeren bir resim&#10;&#10;Açıklama otomatik olarak oluşturuldu">
            <a:extLst>
              <a:ext uri="{FF2B5EF4-FFF2-40B4-BE49-F238E27FC236}">
                <a16:creationId xmlns:a16="http://schemas.microsoft.com/office/drawing/2014/main" id="{B0EFE9AD-2953-2A31-9B61-840C1D200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68" y="0"/>
            <a:ext cx="3167539" cy="6858000"/>
          </a:xfrm>
          <a:prstGeom prst="rect">
            <a:avLst/>
          </a:prstGeom>
        </p:spPr>
      </p:pic>
      <p:pic>
        <p:nvPicPr>
          <p:cNvPr id="9" name="Resim 8" descr="metin, ekran görüntüsü, tasarım içeren bir resim&#10;&#10;Açıklama otomatik olarak oluşturuldu">
            <a:extLst>
              <a:ext uri="{FF2B5EF4-FFF2-40B4-BE49-F238E27FC236}">
                <a16:creationId xmlns:a16="http://schemas.microsoft.com/office/drawing/2014/main" id="{D0E619C1-394C-0026-EA11-5BA5DAFC6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807" y="0"/>
            <a:ext cx="3086100" cy="6858000"/>
          </a:xfrm>
          <a:prstGeom prst="rect">
            <a:avLst/>
          </a:prstGeom>
        </p:spPr>
      </p:pic>
      <p:pic>
        <p:nvPicPr>
          <p:cNvPr id="11" name="Resim 10" descr="metin, ekran görüntüsü, yazılım, tasarım içeren bir resim&#10;&#10;Açıklama otomatik olarak oluşturuldu">
            <a:extLst>
              <a:ext uri="{FF2B5EF4-FFF2-40B4-BE49-F238E27FC236}">
                <a16:creationId xmlns:a16="http://schemas.microsoft.com/office/drawing/2014/main" id="{E9B13B29-DDF8-34E7-781D-E30D4A896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907" y="0"/>
            <a:ext cx="3086100" cy="6858000"/>
          </a:xfrm>
          <a:prstGeom prst="rect">
            <a:avLst/>
          </a:prstGeom>
        </p:spPr>
      </p:pic>
      <p:sp>
        <p:nvSpPr>
          <p:cNvPr id="12" name="Dikdörtgen 11">
            <a:extLst>
              <a:ext uri="{FF2B5EF4-FFF2-40B4-BE49-F238E27FC236}">
                <a16:creationId xmlns:a16="http://schemas.microsoft.com/office/drawing/2014/main" id="{485C813E-F9FF-73B9-2EF1-16BDC4D0517C}"/>
              </a:ext>
            </a:extLst>
          </p:cNvPr>
          <p:cNvSpPr/>
          <p:nvPr/>
        </p:nvSpPr>
        <p:spPr>
          <a:xfrm>
            <a:off x="6423102" y="0"/>
            <a:ext cx="2961805" cy="245327"/>
          </a:xfrm>
          <a:prstGeom prst="rect">
            <a:avLst/>
          </a:prstGeom>
          <a:solidFill>
            <a:srgbClr val="050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4BF9337-4591-F0C4-D233-999609140EE2}"/>
              </a:ext>
            </a:extLst>
          </p:cNvPr>
          <p:cNvSpPr/>
          <p:nvPr/>
        </p:nvSpPr>
        <p:spPr>
          <a:xfrm>
            <a:off x="9384907" y="0"/>
            <a:ext cx="3086100" cy="245327"/>
          </a:xfrm>
          <a:prstGeom prst="rect">
            <a:avLst/>
          </a:prstGeom>
          <a:solidFill>
            <a:srgbClr val="0C1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494ED285-68AA-404C-51FC-27A33FF51951}"/>
              </a:ext>
            </a:extLst>
          </p:cNvPr>
          <p:cNvSpPr/>
          <p:nvPr/>
        </p:nvSpPr>
        <p:spPr>
          <a:xfrm>
            <a:off x="9466346" y="6735337"/>
            <a:ext cx="3004661" cy="122664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44B0EA1-024C-2CF7-2810-94FD44F3F14B}"/>
              </a:ext>
            </a:extLst>
          </p:cNvPr>
          <p:cNvSpPr/>
          <p:nvPr/>
        </p:nvSpPr>
        <p:spPr>
          <a:xfrm>
            <a:off x="6461685" y="6735337"/>
            <a:ext cx="3004661" cy="122664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394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şlık 1">
            <a:extLst>
              <a:ext uri="{FF2B5EF4-FFF2-40B4-BE49-F238E27FC236}">
                <a16:creationId xmlns:a16="http://schemas.microsoft.com/office/drawing/2014/main" id="{CB57E74B-3A6E-BCCF-392E-F3A21938F797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7287208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AI Destekli Analiz ve Koordinasyon</a:t>
            </a:r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D4FFFB39-B84B-67E6-CD40-1E6505C42580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Yardım taleplerinin analiz edilmesi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Öncelik skorunun belirlenmesi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Kaynak ve gönüllü eşleştirme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Verilerin merkezi sistemde yönetilmes</a:t>
            </a:r>
            <a:r>
              <a:rPr lang="tr-TR" sz="2000" dirty="0">
                <a:solidFill>
                  <a:srgbClr val="444444"/>
                </a:solidFill>
                <a:latin typeface="Inter"/>
              </a:rPr>
              <a:t>i</a:t>
            </a:r>
            <a:endParaRPr lang="tr-TR" sz="2000" b="0" i="0" dirty="0">
              <a:solidFill>
                <a:srgbClr val="444444"/>
              </a:solidFill>
              <a:effectLst/>
              <a:latin typeface="Inter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A4B5F198-DD58-2EA1-D1D2-456C69D13F66}"/>
              </a:ext>
            </a:extLst>
          </p:cNvPr>
          <p:cNvSpPr txBox="1"/>
          <p:nvPr/>
        </p:nvSpPr>
        <p:spPr>
          <a:xfrm>
            <a:off x="793102" y="522328"/>
            <a:ext cx="9610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Önceli̇klendi̇rme</a:t>
            </a:r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, 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Yönlendi̇rme</a:t>
            </a:r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, 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Koordi̇nasyon</a:t>
            </a:r>
            <a:endParaRPr lang="tr-TR" sz="1600" b="1" i="0" cap="all" dirty="0">
              <a:solidFill>
                <a:srgbClr val="E53935"/>
              </a:solidFill>
              <a:effectLst/>
              <a:latin typeface="Inter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27E09293-27CF-7879-0DB4-4603CDBDF12C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AI burada kararın yerine geçmez;</a:t>
            </a:r>
            <a:br>
              <a:rPr lang="tr-TR" sz="2000" dirty="0"/>
            </a:b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koordinasyonu hızlandırır.</a:t>
            </a:r>
            <a:endParaRPr lang="tr-TR" sz="2000" dirty="0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F818D78-71B8-97BA-3DF0-97D1F7CB16F2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F14E2CDB-9B36-8D07-7924-F1B46A22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240" y="799733"/>
            <a:ext cx="3896269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9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A939D2A8-5800-0F1E-6A3E-838B6A29F0F7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7287208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r-TR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Afet Koordinasyon Yönetim Paneli</a:t>
            </a:r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2782F6B9-F0A2-184E-AFEC-9A7A8F508C7A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Gerçek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zamanlı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SOS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izleme</a:t>
            </a:r>
            <a:endParaRPr lang="tr-TR" sz="2000" b="0" i="0" dirty="0">
              <a:solidFill>
                <a:srgbClr val="444444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Isı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haritası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analizi</a:t>
            </a:r>
            <a:endParaRPr lang="tr-TR" sz="2000" b="0" i="0" dirty="0">
              <a:solidFill>
                <a:srgbClr val="444444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Gönüllü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koordinasyonu</a:t>
            </a:r>
            <a:endParaRPr lang="tr-TR" sz="2000" b="0" i="0" dirty="0">
              <a:solidFill>
                <a:srgbClr val="444444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Yapay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zeka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destekli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operatör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sohbet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robotu</a:t>
            </a:r>
            <a:endParaRPr lang="tr-TR" sz="2000" b="0" i="0" dirty="0">
              <a:solidFill>
                <a:srgbClr val="444444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Ayrıntılı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olay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Inter"/>
              </a:rPr>
              <a:t> </a:t>
            </a:r>
            <a:r>
              <a:rPr lang="en-US" sz="2000" b="0" i="0" dirty="0" err="1">
                <a:solidFill>
                  <a:srgbClr val="444444"/>
                </a:solidFill>
                <a:effectLst/>
                <a:latin typeface="Inter"/>
              </a:rPr>
              <a:t>yönetimi</a:t>
            </a:r>
            <a:endParaRPr lang="en-US" sz="2000" b="0" i="0" dirty="0">
              <a:solidFill>
                <a:srgbClr val="444444"/>
              </a:solidFill>
              <a:effectLst/>
              <a:latin typeface="Inter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87856AA-CF63-AD76-2731-07ECF662C5BC}"/>
              </a:ext>
            </a:extLst>
          </p:cNvPr>
          <p:cNvSpPr txBox="1"/>
          <p:nvPr/>
        </p:nvSpPr>
        <p:spPr>
          <a:xfrm>
            <a:off x="793102" y="522328"/>
            <a:ext cx="9610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Operasyon merkezi̇ görünürlüğü ve gerçek zamanlı 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koordi̇nasyon</a:t>
            </a:r>
            <a:endParaRPr lang="tr-TR" sz="1600" b="1" i="0" cap="all" dirty="0">
              <a:solidFill>
                <a:srgbClr val="E53935"/>
              </a:solidFill>
              <a:effectLst/>
              <a:latin typeface="Inter"/>
            </a:endParaRPr>
          </a:p>
          <a:p>
            <a:br>
              <a:rPr lang="tr-TR" sz="1600" dirty="0"/>
            </a:br>
            <a:endParaRPr lang="tr-TR" sz="1600" b="1" i="0" cap="all" dirty="0">
              <a:solidFill>
                <a:srgbClr val="E53935"/>
              </a:solidFill>
              <a:effectLst/>
              <a:latin typeface="Inter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A3E889F-2E31-EC78-DDFD-627EEAB109D5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Amaç yalnızca veri toplamak değil,</a:t>
            </a:r>
            <a:br>
              <a:rPr lang="tr-TR" sz="2000" dirty="0"/>
            </a:b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kaotik afet ortamında karar alma süresini azaltmak.</a:t>
            </a:r>
            <a:endParaRPr lang="tr-TR" sz="2000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9E0C3ED-701A-CA53-7702-1DF5D55FD83B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A8386C8E-7F05-491F-6DD0-7F8A3E738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14" y="1120940"/>
            <a:ext cx="4792827" cy="4629528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2ABD2510-73FC-2442-7F08-5664AB0E4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131" y="1249342"/>
            <a:ext cx="140989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3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2757942A-BCCD-6A78-9254-D1EA55F09AD7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6890869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r-TR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Canlı Demo: Uçtan Uca Çalışan Akış</a:t>
            </a:r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150EAD23-0016-0CC5-346A-DE9C3CD71FD5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Mobil uygulamadan SOS oluşturma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Mesh ağ üzerinden iletim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 err="1">
                <a:solidFill>
                  <a:srgbClr val="444444"/>
                </a:solidFill>
                <a:effectLst/>
                <a:latin typeface="Inter"/>
              </a:rPr>
              <a:t>Backend’de</a:t>
            </a: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 talebin görünmesi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Gönüllü ekranına görevin düşmesi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48D7EFB-667E-8371-86CD-962C304F4D9C}"/>
              </a:ext>
            </a:extLst>
          </p:cNvPr>
          <p:cNvSpPr txBox="1"/>
          <p:nvPr/>
        </p:nvSpPr>
        <p:spPr>
          <a:xfrm>
            <a:off x="793102" y="522328"/>
            <a:ext cx="9610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Gerçek zamanlı uçtan uca </a:t>
            </a:r>
            <a:r>
              <a:rPr lang="tr-TR" sz="1600" b="1" i="0" cap="all" dirty="0" err="1">
                <a:solidFill>
                  <a:srgbClr val="E53935"/>
                </a:solidFill>
                <a:effectLst/>
                <a:latin typeface="Inter"/>
              </a:rPr>
              <a:t>si̇stem</a:t>
            </a:r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 akışı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8C73AD9-2979-88AE-FB43-2C5D48AD4DE7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Teoride değil, çalışan bir akışı</a:t>
            </a:r>
            <a:br>
              <a:rPr lang="tr-TR" sz="2000" dirty="0"/>
            </a:b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canlı gösteriyoruz.</a:t>
            </a:r>
            <a:endParaRPr lang="tr-TR" sz="2000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9445B82-C562-5A90-671B-991128E2D7DC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BE12140E-9F0D-4C4A-A58D-8985D8E73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455" y="2105799"/>
            <a:ext cx="3033440" cy="4081490"/>
          </a:xfrm>
          <a:prstGeom prst="rect">
            <a:avLst/>
          </a:prstGeom>
        </p:spPr>
      </p:pic>
      <p:pic>
        <p:nvPicPr>
          <p:cNvPr id="3" name="Resim 2" descr="metin, logo, yazı tipi, grafik içeren bir resim&#10;&#10;Açıklama otomatik olarak oluşturuldu">
            <a:extLst>
              <a:ext uri="{FF2B5EF4-FFF2-40B4-BE49-F238E27FC236}">
                <a16:creationId xmlns:a16="http://schemas.microsoft.com/office/drawing/2014/main" id="{21171A54-7664-ECF4-D681-D18276231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6" r="24059"/>
          <a:stretch/>
        </p:blipFill>
        <p:spPr>
          <a:xfrm>
            <a:off x="9118673" y="300476"/>
            <a:ext cx="1801004" cy="180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02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2AF9E713-7C7C-6984-9169-3D3759C8E9EF}"/>
              </a:ext>
            </a:extLst>
          </p:cNvPr>
          <p:cNvSpPr txBox="1">
            <a:spLocks/>
          </p:cNvSpPr>
          <p:nvPr/>
        </p:nvSpPr>
        <p:spPr>
          <a:xfrm>
            <a:off x="793103" y="891660"/>
            <a:ext cx="7287208" cy="209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r-TR" b="1" i="0" dirty="0">
                <a:solidFill>
                  <a:srgbClr val="111111"/>
                </a:solidFill>
                <a:effectLst/>
                <a:latin typeface="Montserrat" panose="00000500000000000000" pitchFamily="2" charset="-94"/>
              </a:rPr>
              <a:t>Afet Anında İletişim Çökmemeli</a:t>
            </a:r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34D3C62B-370A-6C9F-6ECD-21F835ABAC4A}"/>
              </a:ext>
            </a:extLst>
          </p:cNvPr>
          <p:cNvSpPr txBox="1">
            <a:spLocks/>
          </p:cNvSpPr>
          <p:nvPr/>
        </p:nvSpPr>
        <p:spPr>
          <a:xfrm>
            <a:off x="793102" y="2286422"/>
            <a:ext cx="5713445" cy="2798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Ölçeklenebilir mesh altyapısı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Taşınabilir acil durum kitleri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AI destekli afet koordinasyonu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2000" b="0" i="0" dirty="0">
                <a:solidFill>
                  <a:srgbClr val="444444"/>
                </a:solidFill>
                <a:effectLst/>
                <a:latin typeface="Inter"/>
              </a:rPr>
              <a:t>Gerçek sahaya uyarlanabilir sistem tasarımı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FD9C708-EF93-CAB8-2A13-CB469A6D6899}"/>
              </a:ext>
            </a:extLst>
          </p:cNvPr>
          <p:cNvSpPr txBox="1"/>
          <p:nvPr/>
        </p:nvSpPr>
        <p:spPr>
          <a:xfrm>
            <a:off x="793102" y="522328"/>
            <a:ext cx="9610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1600" b="1" i="0" cap="all" dirty="0">
                <a:solidFill>
                  <a:srgbClr val="E53935"/>
                </a:solidFill>
                <a:effectLst/>
                <a:latin typeface="Inter"/>
              </a:rPr>
              <a:t>İLETİŞİM SÜREKLİLİĞİ, HAYAT KURTARIR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E05C412-8378-C9B2-157A-66B4983F15D7}"/>
              </a:ext>
            </a:extLst>
          </p:cNvPr>
          <p:cNvSpPr txBox="1"/>
          <p:nvPr/>
        </p:nvSpPr>
        <p:spPr>
          <a:xfrm>
            <a:off x="970383" y="5085184"/>
            <a:ext cx="4711960" cy="1250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Biz sadece bir uygulama değil, afet anı için </a:t>
            </a:r>
            <a:r>
              <a:rPr lang="tr-TR" sz="2000" b="1" i="0" dirty="0">
                <a:solidFill>
                  <a:srgbClr val="E53935"/>
                </a:solidFill>
                <a:effectLst/>
                <a:latin typeface="Inter"/>
              </a:rPr>
              <a:t>sürdürülebilir bir iletişim altyapısı prototipi</a:t>
            </a:r>
            <a:r>
              <a:rPr lang="tr-TR" sz="2000" b="1" i="0" dirty="0">
                <a:solidFill>
                  <a:srgbClr val="222222"/>
                </a:solidFill>
                <a:effectLst/>
                <a:latin typeface="Inter"/>
              </a:rPr>
              <a:t> geliştirdik.</a:t>
            </a:r>
            <a:endParaRPr lang="tr-TR" sz="2000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452CAD3-7115-3DD5-7146-5BEBC5FA2D69}"/>
              </a:ext>
            </a:extLst>
          </p:cNvPr>
          <p:cNvSpPr/>
          <p:nvPr/>
        </p:nvSpPr>
        <p:spPr>
          <a:xfrm>
            <a:off x="793102" y="5085184"/>
            <a:ext cx="83974" cy="1250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B5A2908B-29C1-B789-47EB-85F012483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611" y="699706"/>
            <a:ext cx="398200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2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2E83DD-EE12-1D7F-44A0-DE22C337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Projede Kullanılan Kaynaklar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53C3B5-B5E9-ABD3-B3EE-A869948F8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>
                <a:hlinkClick r:id="rId2"/>
              </a:rPr>
              <a:t>https://www.genspark.ai/</a:t>
            </a:r>
            <a:endParaRPr lang="tr-TR" dirty="0"/>
          </a:p>
          <a:p>
            <a:r>
              <a:rPr lang="tr-TR" dirty="0">
                <a:hlinkClick r:id="rId3"/>
              </a:rPr>
              <a:t>https://claude.ai/</a:t>
            </a:r>
            <a:endParaRPr lang="tr-TR" dirty="0"/>
          </a:p>
          <a:p>
            <a:r>
              <a:rPr lang="tr-TR" dirty="0">
                <a:hlinkClick r:id="rId4"/>
              </a:rPr>
              <a:t>https://chatgpt.com/</a:t>
            </a:r>
            <a:endParaRPr lang="tr-TR" dirty="0"/>
          </a:p>
          <a:p>
            <a:r>
              <a:rPr lang="tr-TR" dirty="0">
                <a:hlinkClick r:id="rId5"/>
              </a:rPr>
              <a:t>https://gemini.google.com/</a:t>
            </a:r>
            <a:endParaRPr lang="tr-TR" dirty="0"/>
          </a:p>
          <a:p>
            <a:r>
              <a:rPr lang="tr-TR" dirty="0">
                <a:hlinkClick r:id="rId6"/>
              </a:rPr>
              <a:t>https://groq.com/</a:t>
            </a:r>
            <a:endParaRPr lang="tr-TR" dirty="0"/>
          </a:p>
          <a:p>
            <a:r>
              <a:rPr lang="tr-TR" dirty="0">
                <a:hlinkClick r:id="rId7"/>
              </a:rPr>
              <a:t>https://antigravity.google/</a:t>
            </a:r>
            <a:endParaRPr lang="tr-TR" dirty="0"/>
          </a:p>
          <a:p>
            <a:r>
              <a:rPr lang="tr-TR" dirty="0">
                <a:hlinkClick r:id="rId8"/>
              </a:rPr>
              <a:t>https://cursor.com/</a:t>
            </a:r>
            <a:endParaRPr lang="tr-TR" dirty="0"/>
          </a:p>
          <a:p>
            <a:r>
              <a:rPr lang="tr-TR" dirty="0">
                <a:hlinkClick r:id="rId9"/>
              </a:rPr>
              <a:t>https://www.augmentcode.com/</a:t>
            </a:r>
            <a:endParaRPr lang="tr-TR" dirty="0"/>
          </a:p>
          <a:p>
            <a:r>
              <a:rPr lang="tr-TR" dirty="0">
                <a:hlinkClick r:id="rId10"/>
              </a:rPr>
              <a:t>https://windsurf.com/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2580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774</Words>
  <Application>Microsoft Office PowerPoint</Application>
  <PresentationFormat>Geniş ekran</PresentationFormat>
  <Paragraphs>110</Paragraphs>
  <Slides>10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Inter</vt:lpstr>
      <vt:lpstr>Montserrat</vt:lpstr>
      <vt:lpstr>Office Teması</vt:lpstr>
      <vt:lpstr>Afet Anında İletişim Çökerse Ne Olur?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Projede Kullanılan Kaynaklar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BUĞRA YALÇIN</dc:creator>
  <cp:lastModifiedBy>BUĞRA YALÇIN</cp:lastModifiedBy>
  <cp:revision>6</cp:revision>
  <dcterms:created xsi:type="dcterms:W3CDTF">2026-05-16T03:28:43Z</dcterms:created>
  <dcterms:modified xsi:type="dcterms:W3CDTF">2026-05-17T07:46:11Z</dcterms:modified>
</cp:coreProperties>
</file>